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6" d="100"/>
          <a:sy n="46" d="100"/>
        </p:scale>
        <p:origin x="38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A9F9-4B3D-550A-AF6A-E1328C87A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57039-7FFD-CBAE-F5FB-895D9027C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729A6-9B78-239C-A571-49FA2424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31A0-42F7-4583-BD5E-0CC82A9C7BE5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C9560-E1E9-79D4-5E70-D6B937B52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CF116-2246-2377-3A47-64B0BBAC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8F75-6DF2-4794-BEEF-7285B302D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5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BAF84-B874-0500-61B4-BA8F19AA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EB073-E0C7-39D3-A7CB-24131685D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6B46C-6A0F-656E-E707-55F1AE330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31A0-42F7-4583-BD5E-0CC82A9C7BE5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A543C-9077-FD0C-4DA8-8CD8396A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5D0F8-8F6A-3010-E4EA-48BED555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8F75-6DF2-4794-BEEF-7285B302D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90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44821-BF1F-35DB-A028-BD8263889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142BA-8CC1-93CC-DD4C-9E48D7BDF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69230-4E88-8A4A-495C-D26B9476F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31A0-42F7-4583-BD5E-0CC82A9C7BE5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EEE72-2CC2-A6EF-B18F-0A4DF8AC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366C3-B6CA-C96B-4757-EA86E5455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8F75-6DF2-4794-BEEF-7285B302D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126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CAEB8-11A8-FCDE-FA48-20B8DBE10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3A83D-8103-26D8-808F-77C1F7AD7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1182B1-4D6E-A82F-EF17-65969E56A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EF194-95CE-5C01-808C-50DF0BD4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31A0-42F7-4583-BD5E-0CC82A9C7BE5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4EC62-68B3-F8E9-313A-ABC9EDFA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B38B4-E33A-FA08-45CC-58DC9579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8F75-6DF2-4794-BEEF-7285B302D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837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1E2E-F1B7-E225-09D3-F974623DF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1C5BC-7D3A-A32B-F967-5951718B9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99BB2-C3BD-464F-6CEC-044F88C2E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66440-10D6-2F34-8547-5BF4CBC86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0C2A5A-D740-2F3C-E265-6CED8BCF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F8579-3598-4D20-94D8-18CF55B39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31A0-42F7-4583-BD5E-0CC82A9C7BE5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48E13-8B5F-6EC1-D9E6-D07167F8D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B479A-7C78-955B-E402-54C5A0FF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8F75-6DF2-4794-BEEF-7285B302D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68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D48D-3EFB-CA53-329A-85B05158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E88B7-64F4-A804-9BFF-565BB991B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31A0-42F7-4583-BD5E-0CC82A9C7BE5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22E93-4AC6-3A47-ECF5-375D384CF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BCA51-B913-3A76-99AE-6C67A9CF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8F75-6DF2-4794-BEEF-7285B302D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2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60188-B04D-FBEE-7CB0-22F9E9B01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31A0-42F7-4583-BD5E-0CC82A9C7BE5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F6C5A-2DC3-8F68-6E42-84849C8B8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26CD9-3AE3-0C33-F907-6A3727D4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8F75-6DF2-4794-BEEF-7285B302D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1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20B0-3589-082C-A88A-1E8FBBA9E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CC890-8B50-F70D-9CF1-783B65E31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C0C1C-B84A-7736-ECF7-EE5C7F2A1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BC885-5882-E376-94E6-873E89919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31A0-42F7-4583-BD5E-0CC82A9C7BE5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7661B-1476-77E0-AFE9-73C272E1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ECEBC-4985-9205-D285-A27E37CC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8F75-6DF2-4794-BEEF-7285B302D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324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EFE2-DE14-9D49-394F-CCCF69C1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F748B-B750-A763-4C34-D4729ED02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637B3-6016-FF1F-1216-F88309E79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0CF58-E04B-DB6A-C6FD-53FF6E5BB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31A0-42F7-4583-BD5E-0CC82A9C7BE5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9413C-ECA5-9E50-C9DB-F65EAED68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67480-BCC8-3CE4-3359-8BF15799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8F75-6DF2-4794-BEEF-7285B302D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720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4B5B-D5F9-CF0A-D608-74E5BEBD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5959C-32FA-B9D1-9AEB-FFD6D9735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71516-98D0-1A53-95D9-DDAB51662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31A0-42F7-4583-BD5E-0CC82A9C7BE5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2D232-DE7D-D114-2409-9233DD799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52404-268F-CB15-F829-CF08485F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8F75-6DF2-4794-BEEF-7285B302D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86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41A56F-C82D-4A4C-22B3-CB09F6CE1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0ADE6-7423-D4EF-BCDE-FFC48BC0E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F12B-B2CD-5ACA-E8AC-4D2AE8EA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631A0-42F7-4583-BD5E-0CC82A9C7BE5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0AF14-706B-CE25-0F3A-B33839EF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0AD89-EFA6-E3F6-EE99-6A8E248E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8F75-6DF2-4794-BEEF-7285B302D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68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02547A-FE5F-DA57-B1FA-FF5BA10C4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B6C1A-5359-47CB-29BD-0C440177F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F8A5A-A0F9-A4D9-D605-71C9156AE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631A0-42F7-4583-BD5E-0CC82A9C7BE5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9D982-31AD-9A0E-008C-ED47DCC4F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0A307-4E7A-ABBA-4B58-9BE017E74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B8F75-6DF2-4794-BEEF-7285B302DF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13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E21715-C08F-8F8A-EE85-42C9D8CB3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50" y="212411"/>
            <a:ext cx="11012437" cy="6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E1A01-E218-B60D-7621-54ACD5188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57" y="360485"/>
            <a:ext cx="11121044" cy="623982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/>
              <a:t>1. Line Chart – Sales Over Years</a:t>
            </a:r>
          </a:p>
          <a:p>
            <a:pPr>
              <a:buNone/>
            </a:pPr>
            <a:r>
              <a:rPr lang="en-US" b="1" dirty="0"/>
              <a:t>Insight: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Steady growth</a:t>
            </a:r>
            <a:r>
              <a:rPr lang="en-US" dirty="0"/>
              <a:t> in sales from 2015 to 2018.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Significant jump between </a:t>
            </a:r>
            <a:r>
              <a:rPr lang="en-US" b="1" dirty="0"/>
              <a:t>2016 to 2017</a:t>
            </a:r>
            <a:r>
              <a:rPr lang="en-US" dirty="0"/>
              <a:t>, indicating strong business expansion or seasonal spike.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upward trend suggests </a:t>
            </a:r>
            <a:r>
              <a:rPr lang="en-US" b="1" dirty="0"/>
              <a:t>consistent performance improvements</a:t>
            </a:r>
            <a:r>
              <a:rPr lang="en-US" dirty="0"/>
              <a:t> year over year.</a:t>
            </a:r>
          </a:p>
          <a:p>
            <a:pPr>
              <a:buNone/>
            </a:pPr>
            <a:r>
              <a:rPr lang="en-US" b="1" dirty="0"/>
              <a:t>2. Bar Chart – Sales by Region</a:t>
            </a:r>
          </a:p>
          <a:p>
            <a:pPr>
              <a:buNone/>
            </a:pPr>
            <a:r>
              <a:rPr lang="en-US" b="1" dirty="0"/>
              <a:t>Insight: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West region</a:t>
            </a:r>
            <a:r>
              <a:rPr lang="en-US" dirty="0"/>
              <a:t> leads in total sales, nearing </a:t>
            </a:r>
            <a:r>
              <a:rPr lang="en-US" b="1" dirty="0"/>
              <a:t>20M+</a:t>
            </a:r>
            <a:r>
              <a:rPr lang="en-US" dirty="0"/>
              <a:t>, making it the top-performing region.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East</a:t>
            </a:r>
            <a:r>
              <a:rPr lang="en-US" dirty="0"/>
              <a:t> and </a:t>
            </a:r>
            <a:r>
              <a:rPr lang="en-US" b="1" dirty="0"/>
              <a:t>Central</a:t>
            </a:r>
            <a:r>
              <a:rPr lang="en-US" dirty="0"/>
              <a:t> follow with strong numbers, while </a:t>
            </a:r>
            <a:r>
              <a:rPr lang="en-US" b="1" dirty="0"/>
              <a:t>South</a:t>
            </a:r>
            <a:r>
              <a:rPr lang="en-US" dirty="0"/>
              <a:t> lags behind with the </a:t>
            </a:r>
            <a:r>
              <a:rPr lang="en-US" b="1" dirty="0"/>
              <a:t>lowest sales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Strategic focus might be needed to boost performance in the </a:t>
            </a:r>
            <a:r>
              <a:rPr lang="en-US" b="1" dirty="0"/>
              <a:t>South</a:t>
            </a:r>
            <a:r>
              <a:rPr lang="en-US" dirty="0"/>
              <a:t> region.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3035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D3B8A-570A-7279-8BD2-1249282E5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85" y="315884"/>
            <a:ext cx="11037916" cy="6384174"/>
          </a:xfrm>
        </p:spPr>
        <p:txBody>
          <a:bodyPr/>
          <a:lstStyle/>
          <a:p>
            <a:pPr>
              <a:buNone/>
            </a:pPr>
            <a:r>
              <a:rPr lang="en-US" b="1" dirty="0"/>
              <a:t>3. Donut Chart – Sales by Category</a:t>
            </a:r>
          </a:p>
          <a:p>
            <a:pPr>
              <a:buNone/>
            </a:pPr>
            <a:r>
              <a:rPr lang="en-US" b="1" dirty="0"/>
              <a:t>Insight: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Office Supplies</a:t>
            </a:r>
            <a:r>
              <a:rPr lang="en-US" dirty="0"/>
              <a:t> contribute the most to sales: </a:t>
            </a:r>
            <a:r>
              <a:rPr lang="en-US" b="1" dirty="0"/>
              <a:t>~60% of total</a:t>
            </a:r>
            <a:r>
              <a:rPr lang="en-US" dirty="0"/>
              <a:t> – a dominant category.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Furniture</a:t>
            </a:r>
            <a:r>
              <a:rPr lang="en-US" dirty="0"/>
              <a:t> follows with ~21%.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Technology</a:t>
            </a:r>
            <a:r>
              <a:rPr lang="en-US" dirty="0"/>
              <a:t> has the </a:t>
            </a:r>
            <a:r>
              <a:rPr lang="en-US" b="1" dirty="0"/>
              <a:t>smallest share (~19%)</a:t>
            </a:r>
            <a:r>
              <a:rPr lang="en-US" dirty="0"/>
              <a:t>, despite often having high-value items.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/>
              <a:t> Slicer </a:t>
            </a:r>
            <a:r>
              <a:rPr lang="en-US" b="1" dirty="0"/>
              <a:t>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Region</a:t>
            </a:r>
            <a:r>
              <a:rPr lang="en-US" dirty="0"/>
              <a:t> and </a:t>
            </a:r>
            <a:r>
              <a:rPr lang="en-US" b="1" dirty="0"/>
              <a:t>Category</a:t>
            </a:r>
            <a:r>
              <a:rPr lang="en-US" dirty="0"/>
              <a:t> slicers allow users to dynamically analyze trends and performance per area or product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Great for </a:t>
            </a:r>
            <a:r>
              <a:rPr lang="en-US" b="1" dirty="0"/>
              <a:t>targeted analysis</a:t>
            </a:r>
            <a:r>
              <a:rPr lang="en-US" dirty="0"/>
              <a:t> – e.g., see how the West region performs in Technology vs. Office Supplies.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424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adil</dc:creator>
  <cp:lastModifiedBy>shaik adil</cp:lastModifiedBy>
  <cp:revision>1</cp:revision>
  <dcterms:created xsi:type="dcterms:W3CDTF">2025-05-03T18:34:05Z</dcterms:created>
  <dcterms:modified xsi:type="dcterms:W3CDTF">2025-05-03T18:34:33Z</dcterms:modified>
</cp:coreProperties>
</file>